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0972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4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ANLATTIM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100% local AI assistant that explains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Turkish contracts in plain language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3063240"/>
            <a:ext cx="237744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1363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8720" y="307238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first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41605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Proposal  ·  3 min talk + 2 min discussion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4434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Eraycan Uyanık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926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05840" y="713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are a black box for individuals and small businesses without a lawyer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234440"/>
            <a:ext cx="8138160" cy="1051560"/>
          </a:xfrm>
          <a:prstGeom prst="rect">
            <a:avLst/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234440"/>
            <a:ext cx="9144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435608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54480" y="1344168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Complex legal language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554480" y="1737360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Rental, employment, service contracts and privacy policies are unreadable for the average user.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423160"/>
            <a:ext cx="8138160" cy="1051560"/>
          </a:xfrm>
          <a:prstGeom prst="rect">
            <a:avLst/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02920" y="2423160"/>
            <a:ext cx="9144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24328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54480" y="2532888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concern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54480" y="2926080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Uploading personal contracts to cloud LLMs (ChatGPT, Gemini) leaks sensitive data to third parties.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3611880"/>
            <a:ext cx="8138160" cy="1051560"/>
          </a:xfrm>
          <a:prstGeom prst="rect">
            <a:avLst/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02920" y="3611880"/>
            <a:ext cx="91440" cy="1051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13048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3721608"/>
            <a:ext cx="7040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legal grounding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554480" y="4114800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summarizers don't cite the Turkish Code of Obligations, Labor Law, or Consumer Law — not verifiable.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Anlattım  ·  Final Project Proposal</a:t>
            </a:r>
            <a:endParaRPr lang="en-US" sz="900" dirty="0"/>
          </a:p>
        </p:txBody>
      </p:sp>
      <p:sp>
        <p:nvSpPr>
          <p:cNvPr id="23" name="Text 17"/>
          <p:cNvSpPr/>
          <p:nvPr/>
        </p:nvSpPr>
        <p:spPr>
          <a:xfrm>
            <a:off x="7863840" y="4818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926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Solution: Anlattım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05840" y="713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→ plain-language summary + color-coded risk flags + statute citations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380744"/>
            <a:ext cx="301752" cy="3017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43000" y="12344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Multi-format upload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1143000" y="154533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+ JPG / PNG (Turkish OCR for scanned docs)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02920" y="2148840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2249424"/>
            <a:ext cx="301752" cy="30175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43000" y="2103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analysis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1143000" y="241401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Per-clause structured JSON score + color-coded highlights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3017520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3118104"/>
            <a:ext cx="301752" cy="30175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43000" y="2971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Statute RAG (876 articles)</a:t>
            </a:r>
            <a:endParaRPr lang="en-US" sz="1450" dirty="0"/>
          </a:p>
        </p:txBody>
      </p:sp>
      <p:sp>
        <p:nvSpPr>
          <p:cNvPr id="17" name="Text 11"/>
          <p:cNvSpPr/>
          <p:nvPr/>
        </p:nvSpPr>
        <p:spPr>
          <a:xfrm>
            <a:off x="1143000" y="328269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TBK / Labor / Consumer Law — citations like “TBK Art. 346”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02920" y="3886200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3986784"/>
            <a:ext cx="301752" cy="30175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43000" y="38404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with the document</a:t>
            </a:r>
            <a:endParaRPr lang="en-US" sz="1450" dirty="0"/>
          </a:p>
        </p:txBody>
      </p:sp>
      <p:sp>
        <p:nvSpPr>
          <p:cNvPr id="21" name="Text 14"/>
          <p:cNvSpPr/>
          <p:nvPr/>
        </p:nvSpPr>
        <p:spPr>
          <a:xfrm>
            <a:off x="1143000" y="415137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+ RAG + chat history for grounded Q&amp;A</a:t>
            </a:r>
            <a:endParaRPr lang="en-US" sz="1150" dirty="0"/>
          </a:p>
        </p:txBody>
      </p:sp>
      <p:sp>
        <p:nvSpPr>
          <p:cNvPr id="22" name="Shape 15"/>
          <p:cNvSpPr/>
          <p:nvPr/>
        </p:nvSpPr>
        <p:spPr>
          <a:xfrm>
            <a:off x="5486400" y="1234440"/>
            <a:ext cx="3246120" cy="34290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5486400" y="1234440"/>
            <a:ext cx="3246120" cy="9144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4" name="Text 17"/>
          <p:cNvSpPr/>
          <p:nvPr/>
        </p:nvSpPr>
        <p:spPr>
          <a:xfrm>
            <a:off x="5486400" y="141732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11000" dirty="0"/>
          </a:p>
        </p:txBody>
      </p:sp>
      <p:sp>
        <p:nvSpPr>
          <p:cNvPr id="25" name="Text 18"/>
          <p:cNvSpPr/>
          <p:nvPr/>
        </p:nvSpPr>
        <p:spPr>
          <a:xfrm>
            <a:off x="5486400" y="2788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API calls</a:t>
            </a:r>
            <a:endParaRPr lang="en-US" sz="1600" dirty="0"/>
          </a:p>
        </p:txBody>
      </p:sp>
      <p:sp>
        <p:nvSpPr>
          <p:cNvPr id="26" name="Text 19"/>
          <p:cNvSpPr/>
          <p:nvPr/>
        </p:nvSpPr>
        <p:spPr>
          <a:xfrm>
            <a:off x="5623560" y="32461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inference runs on the user's machine.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internet required after first build.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5623560" y="42976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LM Studio + Qwen 2.5  ·  MLX accelerated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Anlattım  ·  Final Project Proposal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7863840" y="4818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926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05840" y="713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Three-tier, containerized, with the LLM running on the host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417320"/>
            <a:ext cx="2286000" cy="109728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645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Next.js UI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2075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:3000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29000" y="1417320"/>
            <a:ext cx="2286000" cy="109728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429000" y="1645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FastAPI Backend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429000" y="2075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:8000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55080" y="1417320"/>
            <a:ext cx="2286000" cy="10972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16459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LM Studio (Host)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355080" y="2075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:1234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788920" y="196596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715000" y="1965960"/>
            <a:ext cx="64008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4572000" y="2514600"/>
            <a:ext cx="0" cy="5029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3429000" y="3063240"/>
            <a:ext cx="2286000" cy="914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29000" y="3154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ChromaDB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429000" y="34930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 articles · Code of Obl. / Labor / Consumer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429000" y="37124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e5-large embeddings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370832"/>
            <a:ext cx="1316736" cy="292608"/>
          </a:xfrm>
          <a:prstGeom prst="roundRect">
            <a:avLst>
              <a:gd name="adj" fmla="val 12500"/>
            </a:avLst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" y="4370832"/>
            <a:ext cx="1316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1929384" y="4370832"/>
            <a:ext cx="1083564" cy="292608"/>
          </a:xfrm>
          <a:prstGeom prst="roundRect">
            <a:avLst>
              <a:gd name="adj" fmla="val 12500"/>
            </a:avLst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929384" y="4370832"/>
            <a:ext cx="10835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122676" y="4370832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22676" y="43708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14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38244" y="4370832"/>
            <a:ext cx="850392" cy="292608"/>
          </a:xfrm>
          <a:prstGeom prst="roundRect">
            <a:avLst>
              <a:gd name="adj" fmla="val 12500"/>
            </a:avLst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238244" y="4370832"/>
            <a:ext cx="850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198364" y="4370832"/>
            <a:ext cx="1239012" cy="292608"/>
          </a:xfrm>
          <a:prstGeom prst="roundRect">
            <a:avLst>
              <a:gd name="adj" fmla="val 12500"/>
            </a:avLst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198364" y="4370832"/>
            <a:ext cx="12390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Tesseract OCR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547104" y="4370832"/>
            <a:ext cx="1549908" cy="292608"/>
          </a:xfrm>
          <a:prstGeom prst="roundRect">
            <a:avLst>
              <a:gd name="adj" fmla="val 12500"/>
            </a:avLst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547104" y="4370832"/>
            <a:ext cx="15499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2.5-Coder-7B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Anlattım  ·  Final Project Proposal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7863840" y="4818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926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Steps — Development Phases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05840" y="713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phases complete; final phase covers polish and accuracy evaluation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280160"/>
            <a:ext cx="1348740" cy="3200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417320"/>
            <a:ext cx="13487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594360" y="2331720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Skeleton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22960" y="2724912"/>
            <a:ext cx="70866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12648" y="2788920"/>
            <a:ext cx="112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docker-compose, /health, LM Studio connectivity test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698" y="4069080"/>
            <a:ext cx="329184" cy="329184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915668" y="1280160"/>
            <a:ext cx="1348740" cy="3200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915668" y="1417320"/>
            <a:ext cx="13487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5400" dirty="0"/>
          </a:p>
        </p:txBody>
      </p:sp>
      <p:sp>
        <p:nvSpPr>
          <p:cNvPr id="14" name="Text 10"/>
          <p:cNvSpPr/>
          <p:nvPr/>
        </p:nvSpPr>
        <p:spPr>
          <a:xfrm>
            <a:off x="2007108" y="2331720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2235708" y="2724912"/>
            <a:ext cx="70866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025396" y="2788920"/>
            <a:ext cx="112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PDF/DOCX/TXT/JPG/PNG · OCR · summarization</a:t>
            </a:r>
            <a:endParaRPr lang="en-US" sz="10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5446" y="4069080"/>
            <a:ext cx="329184" cy="329184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3328416" y="1280160"/>
            <a:ext cx="1348740" cy="3200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3328416" y="1417320"/>
            <a:ext cx="13487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5400" dirty="0"/>
          </a:p>
        </p:txBody>
      </p:sp>
      <p:sp>
        <p:nvSpPr>
          <p:cNvPr id="20" name="Text 15"/>
          <p:cNvSpPr/>
          <p:nvPr/>
        </p:nvSpPr>
        <p:spPr>
          <a:xfrm>
            <a:off x="3419856" y="2331720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pipeline</a:t>
            </a:r>
            <a:endParaRPr lang="en-US" sz="1350" dirty="0"/>
          </a:p>
        </p:txBody>
      </p:sp>
      <p:sp>
        <p:nvSpPr>
          <p:cNvPr id="21" name="Shape 16"/>
          <p:cNvSpPr/>
          <p:nvPr/>
        </p:nvSpPr>
        <p:spPr>
          <a:xfrm>
            <a:off x="3648456" y="2724912"/>
            <a:ext cx="70866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3438144" y="2788920"/>
            <a:ext cx="112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 segmentation · JSON risk · highlights</a:t>
            </a:r>
            <a:endParaRPr lang="en-US" sz="10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8194" y="4069080"/>
            <a:ext cx="329184" cy="329184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4741164" y="1280160"/>
            <a:ext cx="1348740" cy="3200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41164" y="1417320"/>
            <a:ext cx="13487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400" dirty="0"/>
          </a:p>
        </p:txBody>
      </p:sp>
      <p:sp>
        <p:nvSpPr>
          <p:cNvPr id="26" name="Text 20"/>
          <p:cNvSpPr/>
          <p:nvPr/>
        </p:nvSpPr>
        <p:spPr>
          <a:xfrm>
            <a:off x="4832604" y="2331720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</a:t>
            </a:r>
            <a:endParaRPr lang="en-US" sz="1350" dirty="0"/>
          </a:p>
        </p:txBody>
      </p:sp>
      <p:sp>
        <p:nvSpPr>
          <p:cNvPr id="27" name="Shape 21"/>
          <p:cNvSpPr/>
          <p:nvPr/>
        </p:nvSpPr>
        <p:spPr>
          <a:xfrm>
            <a:off x="5061204" y="2724912"/>
            <a:ext cx="70866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4850892" y="2788920"/>
            <a:ext cx="112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Statute indexing · 876 articles · ChromaDB</a:t>
            </a:r>
            <a:endParaRPr lang="en-US" sz="100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0942" y="4069080"/>
            <a:ext cx="329184" cy="329184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6153912" y="1280160"/>
            <a:ext cx="1348740" cy="32004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6153912" y="1417320"/>
            <a:ext cx="13487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5400" dirty="0"/>
          </a:p>
        </p:txBody>
      </p:sp>
      <p:sp>
        <p:nvSpPr>
          <p:cNvPr id="32" name="Text 25"/>
          <p:cNvSpPr/>
          <p:nvPr/>
        </p:nvSpPr>
        <p:spPr>
          <a:xfrm>
            <a:off x="6245352" y="2331720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6473952" y="2724912"/>
            <a:ext cx="70866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27"/>
          <p:cNvSpPr/>
          <p:nvPr/>
        </p:nvSpPr>
        <p:spPr>
          <a:xfrm>
            <a:off x="6263640" y="2788920"/>
            <a:ext cx="112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context + RAG + chat history Q&amp;A</a:t>
            </a:r>
            <a:endParaRPr lang="en-US" sz="1000" dirty="0"/>
          </a:p>
        </p:txBody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3690" y="4069080"/>
            <a:ext cx="329184" cy="329184"/>
          </a:xfrm>
          <a:prstGeom prst="rect">
            <a:avLst/>
          </a:prstGeom>
        </p:spPr>
      </p:pic>
      <p:sp>
        <p:nvSpPr>
          <p:cNvPr id="36" name="Shape 28"/>
          <p:cNvSpPr/>
          <p:nvPr/>
        </p:nvSpPr>
        <p:spPr>
          <a:xfrm>
            <a:off x="7566660" y="1280160"/>
            <a:ext cx="1348740" cy="3200400"/>
          </a:xfrm>
          <a:prstGeom prst="rect">
            <a:avLst/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7566660" y="1417320"/>
            <a:ext cx="13487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5400" dirty="0"/>
          </a:p>
        </p:txBody>
      </p:sp>
      <p:sp>
        <p:nvSpPr>
          <p:cNvPr id="38" name="Text 30"/>
          <p:cNvSpPr/>
          <p:nvPr/>
        </p:nvSpPr>
        <p:spPr>
          <a:xfrm>
            <a:off x="7658100" y="2331720"/>
            <a:ext cx="11658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Polish</a:t>
            </a:r>
            <a:endParaRPr lang="en-US" sz="1350" dirty="0"/>
          </a:p>
        </p:txBody>
      </p:sp>
      <p:sp>
        <p:nvSpPr>
          <p:cNvPr id="39" name="Shape 31"/>
          <p:cNvSpPr/>
          <p:nvPr/>
        </p:nvSpPr>
        <p:spPr>
          <a:xfrm>
            <a:off x="7886700" y="2724912"/>
            <a:ext cx="7086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2"/>
          <p:cNvSpPr/>
          <p:nvPr/>
        </p:nvSpPr>
        <p:spPr>
          <a:xfrm>
            <a:off x="7676388" y="2788920"/>
            <a:ext cx="11292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 · responsive · accuracy eval</a:t>
            </a:r>
            <a:endParaRPr lang="en-US" sz="100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6438" y="4069080"/>
            <a:ext cx="329184" cy="329184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3" name="Text 34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Anlattım  ·  Final Project Proposal</a:t>
            </a:r>
            <a:endParaRPr lang="en-US" sz="900" dirty="0"/>
          </a:p>
        </p:txBody>
      </p:sp>
      <p:sp>
        <p:nvSpPr>
          <p:cNvPr id="44" name="Text 35"/>
          <p:cNvSpPr/>
          <p:nvPr/>
        </p:nvSpPr>
        <p:spPr>
          <a:xfrm>
            <a:off x="7863840" y="4818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926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Potential Challenges &amp; Mitigations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05840" y="713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points for discussion — remaining risks and how we address them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234440"/>
            <a:ext cx="81381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234440"/>
            <a:ext cx="73152" cy="8229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128930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— slow inference on low-RAM machines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371600" y="1600200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 variants (qwen2.5-coder-7b for speed / gemma-4-e4b for quality); configurable LLM_REQUEST_TIMEOUT; per-clause parallelization.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02920" y="2103120"/>
            <a:ext cx="81381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02920" y="2103120"/>
            <a:ext cx="73152" cy="8229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71600" y="215798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— the LLM may produce wrong risk scores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1371600" y="2468880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JSON output + RAG-grounded statute citations; labeled-contract accuracy evaluation in Phase 6.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02920" y="2971800"/>
            <a:ext cx="81381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02920" y="2971800"/>
            <a:ext cx="73152" cy="8229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54680"/>
            <a:ext cx="457200" cy="4572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71600" y="302666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of being seen as legal advice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371600" y="3337560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legal advice" disclaimer on every output; framed as informational with plain language and citations.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02920" y="3840480"/>
            <a:ext cx="81381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2920" y="3840480"/>
            <a:ext cx="73152" cy="822960"/>
          </a:xfrm>
          <a:prstGeom prst="rect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023360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371600" y="3895344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Setup complexity (LM Studio + Docker)</a:t>
            </a:r>
            <a:endParaRPr lang="en-US" sz="1350" dirty="0"/>
          </a:p>
        </p:txBody>
      </p:sp>
      <p:sp>
        <p:nvSpPr>
          <p:cNvPr id="25" name="Text 18"/>
          <p:cNvSpPr/>
          <p:nvPr/>
        </p:nvSpPr>
        <p:spPr>
          <a:xfrm>
            <a:off x="1371600" y="4206240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</a:t>
            </a:r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.env.example, step-by-step README, /health panel and a "Say hi to the model" diagnostic button.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Anlattım  ·  Final Project Proposal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7863840" y="4818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0040"/>
            <a:ext cx="502920" cy="5029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1148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9260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Curriculum Mapping &amp; Scope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1005840" y="7132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course topics were used, and which were deliberately out of scope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02920" y="1234440"/>
            <a:ext cx="50292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02920" y="1234440"/>
            <a:ext cx="5029200" cy="4114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07592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60120" y="12435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Topics covered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777240" y="17830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FastAPI backend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integration (LM Studio)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· embeddings · ChromaDB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(Tesseract, Turkish)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/ Tailwind UI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— GitHub Actions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669280" y="1234440"/>
            <a:ext cx="2971800" cy="3429000"/>
          </a:xfrm>
          <a:prstGeom prst="rect">
            <a:avLst/>
          </a:prstGeom>
          <a:solidFill>
            <a:srgbClr val="F4F1E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669280" y="1234440"/>
            <a:ext cx="2971800" cy="41148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30759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26480" y="12435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 of scope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0" y="1783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 Azure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5852160" y="20574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Local-first; no cloud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852160" y="2496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#8  MediaPipe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852160" y="2770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vision / pose tasks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5852160" y="3209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#10  Flutter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852160" y="348386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(Next.js) chosen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5760720" y="41605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Intentionally out of scope, given the project's local / web nature.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0" y="4983480"/>
            <a:ext cx="9144000" cy="1600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365760" y="481888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Anlattım  ·  Final Project Proposal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7863840" y="481888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Anlattım — Final Project Proposal</dc:title>
  <dc:subject>PptxGenJS Presentation</dc:subject>
  <dc:creator>Eraycan Uyanık</dc:creator>
  <cp:lastModifiedBy>Eraycan Uyanık</cp:lastModifiedBy>
  <cp:revision>1</cp:revision>
  <dcterms:created xsi:type="dcterms:W3CDTF">2026-06-10T22:13:30Z</dcterms:created>
  <dcterms:modified xsi:type="dcterms:W3CDTF">2026-06-10T22:13:30Z</dcterms:modified>
</cp:coreProperties>
</file>