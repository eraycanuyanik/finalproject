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Turkish retrieval quality (nDCG@10)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MIRACL Turkish nDCG@10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e5-large (multilingual)</c:v>
                  </c:pt>
                  <c:pt idx="1">
                    <c:v>e5-base (multilingual)</c:v>
                  </c:pt>
                  <c:pt idx="2">
                    <c:v>BGE-m3</c:v>
                  </c:pt>
                  <c:pt idx="3">
                    <c:v>OpenAI text-embedding-3-small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76.3</c:v>
                </c:pt>
                <c:pt idx="1">
                  <c:v>71.5</c:v>
                </c:pt>
                <c:pt idx="2">
                  <c:v>75.4</c:v>
                </c:pt>
                <c:pt idx="3">
                  <c:v>70.2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Seconds to analyze a 28-clause rental contract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Qwen2.5-Coder-7B (MLX)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MacBook Air M2 8GB</c:v>
                  </c:pt>
                  <c:pt idx="1">
                    <c:v>MacBook Pro M3 16GB</c:v>
                  </c:pt>
                  <c:pt idx="2">
                    <c:v>Mac Studio M2 Ultra 64GB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45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Gemma-4-e4b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MacBook Air M2 8GB</c:v>
                  </c:pt>
                  <c:pt idx="1">
                    <c:v>MacBook Pro M3 16GB</c:v>
                  </c:pt>
                  <c:pt idx="2">
                    <c:v>Mac Studio M2 Ultra 64GB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156</c:v>
                </c:pt>
                <c:pt idx="1">
                  <c:v>92</c:v>
                </c:pt>
                <c:pt idx="2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286000"/>
            <a:ext cx="6400800" cy="6400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274320"/>
            <a:ext cx="1463040" cy="14630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2025–2026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Anlattım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local AI assistant that explains Turkish contracts in plain language and flags risky clauses against the law.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device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754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Law-grounded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14800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TR / US statutes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7548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fast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40880" y="5047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MLX-accelerated 7B model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Eraycan Uyanık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· Graduation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people sign contracts they don't actually understand.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agreements, terms of service, freelance contracts, employment offers — the people who sign them rarely have a lawyer on call.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contract feels like reading a foreign language. So clauses about late fees, unilateral termination, broad waivers or arbitration just get skipped — until they hurt.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69164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95160" y="18288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don't read terms before signing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2017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0" y="310896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32461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8680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disputes traced to clauses tenants didn't notice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TBB summaries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4526280"/>
            <a:ext cx="4937760" cy="123444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4663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86800" y="4709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spent on a multi-page contract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0" y="5303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studies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Anlattım: upload a contract, get plain-language risk in seconds.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ingest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DOCX · TXT · JPG/PNG (Turkish OCR via Tesseract). Drag-drop and go.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1" y="21927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segmentation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9808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paragraph fallback splits the document into individual clauses.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204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37014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per clause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clause gets a 0–100 score, a type label, a plain-language explanation, and a colour-coded highlight in the document.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5204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11" y="370149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Law-grounded reasoning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analysis can cite a real article: TBK, İş Kanunu, Tüketici Kanunu — or for US mode, CFR / UCC / California Civil Code.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02920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52102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contract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natural Turkish or English — the assistant answers with document context plus statute references.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02920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521025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egress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980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inference, all embeddings, all storage stay on the user's machine.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raw file to colour-coded risks in five steps.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911" y="26499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Image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3154680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88920" y="21945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0614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191" y="264993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78892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88036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+ Tesseract OCR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154680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21945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64642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471" y="2649931"/>
            <a:ext cx="460858" cy="46085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2920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02920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2064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Clause-level chunks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3154680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69480" y="21945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88670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751" y="2649931"/>
            <a:ext cx="460858" cy="46085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6948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726948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6092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statute matches per clause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54680"/>
            <a:ext cx="219456" cy="219456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09760" y="219456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10126980" y="24688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031" y="2649931"/>
            <a:ext cx="460858" cy="46085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50976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9509760" y="3566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601200" y="3977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LLM call → structured JSON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9" name="Text 28"/>
          <p:cNvSpPr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clause-level table with risk score, label, and explanation; the source document is highlighted in green / amber / red, and a side panel lists the riskiest clauses with the relevant law article (e.g. "TBK m. 346").</a:t>
            </a:r>
            <a:endParaRPr lang="en-US" sz="1300" dirty="0"/>
          </a:p>
        </p:txBody>
      </p:sp>
      <p:sp>
        <p:nvSpPr>
          <p:cNvPr id="41" name="Text 30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set of containerised services, plus a host-side LLM.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2402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534" y="24012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(TypeScript + Tailwind)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81635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14800" y="22402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34" y="240121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918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3832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orchestration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81635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03504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858000" y="22402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934" y="2401214"/>
            <a:ext cx="409651" cy="4096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350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proxy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1264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cost tracking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81635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778240" y="20116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601200" y="224028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62134" y="2401214"/>
            <a:ext cx="409651" cy="4096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77824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88696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host (MLX)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48640" y="4297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731520" y="44805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338" y="4621378"/>
            <a:ext cx="358445" cy="35844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5448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 DB)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1554480" y="49377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876 indexed articles · cosine HNSW · persisted on disk · multilingual-e5-large embeddings (Turkish + English).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217920" y="429768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6400800" y="448056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618" y="4621378"/>
            <a:ext cx="358445" cy="358445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2376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1500" dirty="0"/>
          </a:p>
        </p:txBody>
      </p:sp>
      <p:sp>
        <p:nvSpPr>
          <p:cNvPr id="36" name="Text 25"/>
          <p:cNvSpPr/>
          <p:nvPr/>
        </p:nvSpPr>
        <p:spPr>
          <a:xfrm>
            <a:off x="7223760" y="49377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LM Studio model and HuggingFace embedding weights are downloaded once. After that the system is fully offline — no document, prompt, or token ever leaves the laptop.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entirely on open-source, locally-runnable components.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577840"/>
              </a:tblGrid>
              <a:tr h="374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 Studio (Apple MLX backend)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OpenAI-compatible API, fast on Apple Silicon, no docker GPU pain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qwen2.5-coder-7b-instruct-mlx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Turkish, no reasoning tokens — ~45–78s per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Alt.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google/gemma-4-e4b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natural Turkish, but ~2× slower (reasoning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intfloat/multilingual-e5-large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small-footprint TR+EN model · runs locally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0.5.x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persistent, runs in-container, HNSW 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proxy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accounting + virtual GPT-4o pricing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Python 3.11 · ruff · pytest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streaming, JSON schema enforcement, simple to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 (App Router) + Tailwind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App-router streaming UI, type-safe API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(Turkish + English packs)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and photos handled the same way as PDFs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docker-compose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 brings up everything except the host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(ruff + pytest + next build)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PR-gated quality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local LLM, and not Gemini / ChatGPT / Claude API?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75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(Gemini / GPT-4o / Claude)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20574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2075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on user's machine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265176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leaves the device — every clause uploaded to a US/EU vendor.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friction: KVKK / GDPR data-processor agreements, sub-processor clauses, transfer-impact assessments.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token cost — analyzing 200 clauses costs real money.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constant internet; rate-limits and outages stall the demo.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structured-output guarantee unless you pay for the premium SKU.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lock-in: prompt + tool definitions tied to one provider.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0" y="265176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never leaves the laptop — privacy is a hard property, not a promise.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KVKK / GDPR exposure: there is no data-processor in the loop.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is 0 — analyze 10 contracts or 10 000, electricity only.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after first model download.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enforces a JSON schema natively — every clause comes back parseable.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any model exposing an OpenAI-compatible endpoint drops in.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MODEL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Qwen2.5-Coder-7B (MLX) and not Gemma-4-e4b?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310896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27432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Qwen2.5-Coder-7B (MLX)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Gemma-4-e4b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per analysis (28 clauses)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45 – 78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Reasoning-token overhead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(direct JSON)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internal traces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Turkish naturalness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slightly clinical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warmer phrasing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(JSON) output adherence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 drifts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footprint (Q4 MLX)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5.2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5.8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timeouts on long PDFs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overruns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11247120" cy="1188720"/>
          </a:xfrm>
          <a:prstGeom prst="roundRect">
            <a:avLst>
              <a:gd name="adj" fmla="val 9231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5349240"/>
            <a:ext cx="731520" cy="7315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5510174"/>
            <a:ext cx="409651" cy="4096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54480" y="56235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writes nicer Turkish prose, but the user is waiting on the result. Qwen's lack of reasoning tokens (and clean JSON adherence) makes the whole pipeline ~2× faster — the deciding factor on consumer hardware.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EMBEDDINGS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multilingual-e5-large for Turkish + English RAG?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2086661"/>
            <a:ext cx="307238" cy="3072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handles TR + EN — one cache, one container.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315200" y="288036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0" y="3108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1" y="322966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29600" y="3337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MIT-style license; runs locally with sentence-transformers.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7315200" y="402336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498080" y="4251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781" y="43726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 CPU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0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ms / passage on a M-class CPU; no GPU required.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15200" y="5166360"/>
            <a:ext cx="4389120" cy="1005840"/>
          </a:xfrm>
          <a:prstGeom prst="roundRect">
            <a:avLst>
              <a:gd name="adj" fmla="val 10909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0" y="5394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781" y="551566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9600" y="5303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for ChromaDB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0" y="5623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/ passage: prefixes are the only special handling.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Statute-grounded answers: 876 articles, retrieved in milliseconds.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0116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654" y="217261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mevzuat.gov.tr (TR) + eCFR / LII (US)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2839212"/>
            <a:ext cx="182880" cy="1828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52344" y="178308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38144" y="20116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078" y="2172614"/>
            <a:ext cx="409651" cy="4096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52344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889504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Article-level regex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("Madde N" / "§ N")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839212"/>
            <a:ext cx="182880" cy="1828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01768" y="178308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687568" y="20116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502" y="2172614"/>
            <a:ext cx="409651" cy="4096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01768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138928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multilingual-e5-large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passage: prefix, L2-norm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839212"/>
            <a:ext cx="182880" cy="18288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51192" y="178308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7936992" y="20116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926" y="2172614"/>
            <a:ext cx="409651" cy="4096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51192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7388352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HNSW cosine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turk_hukuku · us_law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6024" y="2839212"/>
            <a:ext cx="182880" cy="18288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00616" y="1783080"/>
            <a:ext cx="2103120" cy="233172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10186416" y="201168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7350" y="2172614"/>
            <a:ext cx="409651" cy="409651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00616" y="2788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9637776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3 per clause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risk prompt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502920" y="45720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0F163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7772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retrieval result for a late-fee clause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777240" y="4983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TBK m. 346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(Kiralanan yanında ikinci bir bedel istenemez) — distance 0.18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TBK m. 343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(Kira bedelinin belirlenmesi) — distance 0.22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TBK m. 344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(Yıllık artışın sınırı) — distance 0.27</a:t>
            </a:r>
            <a:endParaRPr lang="en-US" sz="1250" dirty="0"/>
          </a:p>
        </p:txBody>
      </p:sp>
      <p:sp>
        <p:nvSpPr>
          <p:cNvPr id="36" name="Text 2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Batched, schema-constrained LLM calls — the user sees results stream in.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28-clause document is processed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splits on legal-article patterns; fallback to paragraphs.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clause is paired with its top-3 statute matches (RAG).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are grouped into batches (≤ 4 clauses or ≤ 2 200 chars each).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→ ONE LLM call with a strict BATCH_SCHEMA enforced by LM Studio.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results yield to the UI clause-by-clause as batches finish.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clauses → ~7 calls instead of 28 → roughly 4× faster on a laptop.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783080"/>
            <a:ext cx="5212080" cy="4572000"/>
          </a:xfrm>
          <a:prstGeom prst="roundRect">
            <a:avLst>
              <a:gd name="adj" fmla="val 2400"/>
            </a:avLst>
          </a:prstGeom>
          <a:solidFill>
            <a:srgbClr val="0F163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JSON schema (per clause)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"ozet": "...",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"risk_skoru": 0..100,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"risk_turu": "one-sided penalty",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"aciklama": "why it's risky",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"taraf": "yukumluluk | hak | notr"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4846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batch returns valid JSON. No retry loop, no parsing fallbacks polluting the codebase.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COVERAGE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product, two legal systems — Turkey and the United States.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37360"/>
            <a:ext cx="54864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 (default)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mevzuat.gov.tr consolidated PDFs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Corpora: Borçlar Kanunu · İş Kanunu · Tüketici Kanunu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language: Turkish · UI defaults to Turkish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articles: 876 (article-level segmentation)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737360"/>
            <a:ext cx="548640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9202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6517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eCFR + Cornell LII + ca.gov code listings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Corpora: 16 CFR (FTC) · 29 CFR (Labor) · UCC Art. 2 · CA Civil Code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language: English · UI switches via TR/US toggle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e5-large embeddings — no extra model needed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COST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would this have cost on ChatGPT?" — answered in real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is routed through a LiteLLM proxy. LiteLLM counts the prompt and completion tokens and prices them with a virtual GPT-4o tariff ($2.50 / 1M in, $10 / 1M out).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cost is $0 — the model is local — but the dashboard tells the user how much budget the same workload would have burned on a hosted API.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092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0" y="2103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 per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320040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352044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0920" y="33375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$0.04–0.09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0" y="35204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on GPT-4o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461772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49377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7548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058400" y="4937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metered + logged per-user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matters: same code, different machines.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737360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0F163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224028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my own laptop (16GB MacBook Pro M3) a contract is analyzed in well under a minute.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low-spec hardware (8GB Air), runs cross the one-minute mark and timeouts become realistic.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workstation, the same code finishes in ~20 seconds — proving the pipeline isn't the bottleneck, the model is.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 today — and what to be honest about.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ceiling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8GB machines analyses go past a minute; on phones / older Intel Macs the experience degrades quickly.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1" y="21927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mistakes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9808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7B model can mislabel a clause's severity. Outputs are informational — not legal advice.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2044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37014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noise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Scanned/photographed PDFs introduce typos that can confuse segmentation and citation.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52044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11" y="370149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Statute coverage gaps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TBK / İş K. / Tüketici K. (TR) and a few CFR titles (US). Procurement, IP, banking law not yet indexed.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02920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52102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edge cases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64592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nested formatting (tables, footnotes) can produce over-segmented chunks.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029200"/>
            <a:ext cx="822960" cy="8229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521025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network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4980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and LLM weights still require an initial download (~2 GB + 4 GB). After that — fully offline.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HEADROOM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code, better hardware — what improves "for free".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Qwen2.5-72B or Llama-3.1-70B (Q4) on a 64GB workstation — risk explanations gain noticeably in nuance.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1" y="21927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9808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H100 / RTX 4090 the same pipeline finishes a 30-page contract in under 5 seconds — feels like autocomplete instead of "run".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204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37014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parallelism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lets the orchestrator fan clauses out in parallel; a 200-clause master agreement becomes interactive.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5204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11" y="370149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Turkish law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on annotated Turkish contracts would bring domain-specific risk types ("fahiş gecikme faizi") closer to expert taxonomy.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02920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52102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corpora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64592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16GB+ of RAM lets us index full Resmî Gazete archives, case law summaries, and bar-association opinions — citations become richer.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02920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521025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deployment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4980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containers move to an on-prem GPU server inside a law firm — privacy guarantees preserved, but multi-user concurrency unlocked.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WHO USES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people the law usually leaves behind.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116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 (small / mid-size)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triage of incoming contracts. Junior associates see flagged clauses and the relevant article before they read line-by-line. Stays on the firm's own laptop — no client data ever touches a third party.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1" y="21927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without in-house counsel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98080" y="22860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screen supplier MSAs, NDAs, lease renewals before signing. Reduces dependency on "call my lawyer for everything" while keeping a clear paper trail.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5204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" y="370149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people-ops teams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4592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offer letters, freelance agreements, internship contracts against İş Kanunu. Catch one-sided penalty clauses before they get sent out.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309360" y="324612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352044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011" y="370149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&amp; consumer associations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98080" y="3794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analyze rental and ToS documents en masse on a single offline laptop — keeps tenant identifying details off any cloud.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02920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" y="5210251"/>
            <a:ext cx="460858" cy="4608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freelancers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4592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 ↔ US in the same UI to compare a Turkish freelance contract against a US client's template clause-by-clause.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47548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02920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5210251"/>
            <a:ext cx="460858" cy="4608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Legal-tech R&amp;D / academia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4980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scaffolding for evaluating Turkish-language reasoning models on a real downstream task with cited statutes.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WHAT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delivered end-to-end.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29384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874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3852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4231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754880" y="19476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docker-compose, /health, LM Studio reachability test, blank UI.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532888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79192"/>
            <a:ext cx="365760" cy="3657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4360" y="2624328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68833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2670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242316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+ summary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75488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/ images, Tesseract Turkish OCR, single-prompt summarization, raw-text + summary viewer.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282696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429000"/>
            <a:ext cx="365760" cy="36576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94360" y="337413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438144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34198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2423160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pipeline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4754880" y="34472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segmentation, schema-constrained risk scoring per clause, colour-coded document highlighting, hover explanations.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4032504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178808"/>
            <a:ext cx="365760" cy="36576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94360" y="412394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187952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80160" y="4169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50" dirty="0"/>
          </a:p>
        </p:txBody>
      </p:sp>
      <p:sp>
        <p:nvSpPr>
          <p:cNvPr id="30" name="Text 20"/>
          <p:cNvSpPr/>
          <p:nvPr/>
        </p:nvSpPr>
        <p:spPr>
          <a:xfrm>
            <a:off x="2423160" y="4169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4754880" y="41970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statute scraping, article-level chunking, e5-large embeddings, ChromaDB indexing (876 articles), citation injection.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457200" y="4782312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928616"/>
            <a:ext cx="365760" cy="365760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594360" y="487375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937760"/>
            <a:ext cx="365760" cy="3657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280160" y="4919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50" dirty="0"/>
          </a:p>
        </p:txBody>
      </p:sp>
      <p:sp>
        <p:nvSpPr>
          <p:cNvPr id="37" name="Text 25"/>
          <p:cNvSpPr/>
          <p:nvPr/>
        </p:nvSpPr>
        <p:spPr>
          <a:xfrm>
            <a:off x="2423160" y="4919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50" dirty="0"/>
          </a:p>
        </p:txBody>
      </p:sp>
      <p:sp>
        <p:nvSpPr>
          <p:cNvPr id="38" name="Text 26"/>
          <p:cNvSpPr/>
          <p:nvPr/>
        </p:nvSpPr>
        <p:spPr>
          <a:xfrm>
            <a:off x="4754880" y="494690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+ RAG-aware chat with statute citations like "TBK m. 346".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457200" y="5532120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678424"/>
            <a:ext cx="365760" cy="36576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594360" y="5623560"/>
            <a:ext cx="502920" cy="502920"/>
          </a:xfrm>
          <a:prstGeom prst="ellipse">
            <a:avLst/>
          </a:prstGeom>
          <a:solidFill>
            <a:srgbClr val="F9B233"/>
          </a:solidFill>
          <a:ln w="12700">
            <a:solidFill>
              <a:srgbClr val="F9B233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687568"/>
            <a:ext cx="365760" cy="36576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1280160" y="5669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50" dirty="0"/>
          </a:p>
        </p:txBody>
      </p:sp>
      <p:sp>
        <p:nvSpPr>
          <p:cNvPr id="44" name="Text 30"/>
          <p:cNvSpPr/>
          <p:nvPr/>
        </p:nvSpPr>
        <p:spPr>
          <a:xfrm>
            <a:off x="2423160" y="5669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350" dirty="0"/>
          </a:p>
        </p:txBody>
      </p:sp>
      <p:sp>
        <p:nvSpPr>
          <p:cNvPr id="45" name="Text 31"/>
          <p:cNvSpPr/>
          <p:nvPr/>
        </p:nvSpPr>
        <p:spPr>
          <a:xfrm>
            <a:off x="4754880" y="569671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handling, responsive layout, demo recording, accuracy measurement.</a:t>
            </a:r>
            <a:endParaRPr lang="en-US" sz="1100" dirty="0"/>
          </a:p>
        </p:txBody>
      </p:sp>
      <p:sp>
        <p:nvSpPr>
          <p:cNvPr id="46" name="Text 32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next, in priority order.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901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annotated Turkish contracts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52160" y="1947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curated dataset (kira, iş, hizmet, tüketici) labelled with risk types; LoRA-tune Qwen2.5-7B.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70048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700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statute corpus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52160" y="26974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Tüketici Yönetmelikleri, e-ticaret, KVKK guidance; extend US to Federal Arbitration Act + state landlord-tenant codes.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419856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198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4015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clause comparison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52160" y="34472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two contracts; the UI shows where Party A's NDA is harsher than the industry boilerplate.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69664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96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513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2160" y="4197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a contract page → on-device OCR → 5 riskiest clauses pushed to the phone.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82312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919472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9194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49011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Lawyer-in-the-loop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52160" y="49469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clause as "escalate" → encrypted hand-off to a partnered lawyer.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532120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66928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69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37360" y="5650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52160" y="56967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small lawyer-annotated test set; track precision/recall per risk type across model upgrades.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Anlattım  ·  Final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Live demo time.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Eraycan Uyanık   ·   eraycan.uyanik@rapsodo.com   ·   github.com/.../anlattim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Anlattım — Local AI Contract Analyzer</dc:title>
  <dc:subject>PptxGenJS Presentation</dc:subject>
  <dc:creator>Eraycan Uyanik</dc:creator>
  <cp:lastModifiedBy>Eraycan Uyanik</cp:lastModifiedBy>
  <cp:revision>1</cp:revision>
  <dcterms:created xsi:type="dcterms:W3CDTF">2026-06-28T13:26:17Z</dcterms:created>
  <dcterms:modified xsi:type="dcterms:W3CDTF">2026-06-28T13:26:17Z</dcterms:modified>
</cp:coreProperties>
</file>